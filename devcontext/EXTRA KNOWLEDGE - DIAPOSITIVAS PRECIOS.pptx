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101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Título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cxnSp>
        <p:nvCxnSpPr>
          <p:cNvPr id="8" name="7 Conector recto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Elipse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contenido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6" name="15 Marcador de pie de página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cxnSp>
        <p:nvCxnSpPr>
          <p:cNvPr id="7" name="6 Conector recto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2" name="31 Marcador de contenido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34" name="33 Marcador de contenido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cxnSp>
        <p:nvCxnSpPr>
          <p:cNvPr id="10" name="9 Conector recto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16 Conector recto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Marcador de contenido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1" name="30 Título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Marcador de texto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4" name="2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B05459B6-6C2A-4AA5-81EE-24A9A8DA5D10}" type="datetimeFigureOut">
              <a:rPr lang="es-MX" smtClean="0"/>
              <a:pPr/>
              <a:t>03/03/2013</a:t>
            </a:fld>
            <a:endParaRPr lang="en-US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44AA48B1-D933-4533-A03D-BBA4C8D620AD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4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213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Office_Excel1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Office_Excel2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Office_Excel3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solidFill>
            <a:srgbClr val="0070C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ADQUIRIR O PRODUCIR LOS MATERIALES NECESARIOS</a:t>
            </a:r>
            <a:endParaRPr lang="en-U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857884" y="2428868"/>
            <a:ext cx="1785950" cy="5232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COSTO DE ADQUISICION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786446" y="1357298"/>
            <a:ext cx="2428892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193 RLOP Y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285852" y="2428868"/>
            <a:ext cx="178595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TEMPORALES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857884" y="4000504"/>
            <a:ext cx="178595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MANIOBRAS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857884" y="3357562"/>
            <a:ext cx="178595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ACARREOS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857884" y="4572008"/>
            <a:ext cx="178595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ALMACENAJE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285852" y="3286124"/>
            <a:ext cx="1785950" cy="5232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CIMBRAS O MOLDES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714348" y="4286256"/>
            <a:ext cx="2928958" cy="523220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 ACUERDO AL NUMERO DE USOS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857884" y="5214950"/>
            <a:ext cx="1785950" cy="307777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MERMAS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3929058" y="1714488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10800000">
            <a:off x="2214546" y="2000240"/>
            <a:ext cx="200026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214810" y="2000240"/>
            <a:ext cx="25003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rot="5400000">
            <a:off x="2035951" y="217883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34 Imagen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24" y="5286388"/>
            <a:ext cx="1214446" cy="1214446"/>
          </a:xfrm>
          <a:prstGeom prst="rect">
            <a:avLst/>
          </a:prstGeom>
        </p:spPr>
      </p:pic>
      <p:cxnSp>
        <p:nvCxnSpPr>
          <p:cNvPr id="44" name="43 Conector recto de flecha"/>
          <p:cNvCxnSpPr/>
          <p:nvPr/>
        </p:nvCxnSpPr>
        <p:spPr>
          <a:xfrm rot="5400000">
            <a:off x="1964513" y="2964653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 de flecha"/>
          <p:cNvCxnSpPr/>
          <p:nvPr/>
        </p:nvCxnSpPr>
        <p:spPr>
          <a:xfrm rot="5400000">
            <a:off x="6537339" y="310673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solidFill>
            <a:srgbClr val="002060"/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pPr algn="ctr"/>
            <a:r>
              <a:rPr lang="en-US" sz="16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PAGO DE SALARIOS REALES AL PERSONAL QUE INTERVIENE EN LA EJECUCION DELCONCEPTO</a:t>
            </a:r>
            <a:endParaRPr lang="en-US" sz="16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857884" y="2428868"/>
            <a:ext cx="1785950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M.O.= Sr/R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786446" y="1357298"/>
            <a:ext cx="242889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190 Y 191 RLOP Y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285852" y="2428868"/>
            <a:ext cx="1785950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Sr= Sn X Fsr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357818" y="3929066"/>
            <a:ext cx="2786082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LFT, LSS, INFONAVIT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857884" y="3357562"/>
            <a:ext cx="1785950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Sr= Salario Real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5429256" y="4572009"/>
            <a:ext cx="2714644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CONTRATOS COLECTIVOS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571472" y="3286124"/>
            <a:ext cx="3143272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Sn= Salarios según la región o zona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714348" y="4286256"/>
            <a:ext cx="2928958" cy="3077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Fsr= Factor de salario real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5357818" y="5214950"/>
            <a:ext cx="2857520" cy="5232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R= Rendimiento en una jornada de  hrs. de trabajo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3929058" y="1714488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10800000">
            <a:off x="2214546" y="2000240"/>
            <a:ext cx="200026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214810" y="2000240"/>
            <a:ext cx="25003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rot="5400000">
            <a:off x="2035951" y="217883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19 Imagen" descr="untitled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5072074"/>
            <a:ext cx="1843092" cy="14627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solidFill>
            <a:schemeClr val="accent3">
              <a:lumMod val="50000"/>
            </a:schemeClr>
          </a:soli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FASAR: Factor de salario real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214942" y="2500306"/>
            <a:ext cx="3286148" cy="307777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Fsr= Ps (Tp/Tl)+ Tp/Tl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786446" y="1357298"/>
            <a:ext cx="2428892" cy="307777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191 RLOP Y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428596" y="2500306"/>
            <a:ext cx="3571900" cy="738664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Trabajos de emergencia podrán requerir la integracion de horas 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por tiempo extraordinario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5857884" y="3357562"/>
            <a:ext cx="2857520" cy="738664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Ps= 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Obligaciones obrero patronales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derivadas de la LSS e INFONAVIT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2715406" y="2928934"/>
            <a:ext cx="299960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214810" y="2000240"/>
            <a:ext cx="25003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786050" y="4500570"/>
            <a:ext cx="3571900" cy="523220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Tp= Días realmente pagados durante un periódo annual ( enero-diciembre )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2786050" y="5357826"/>
            <a:ext cx="3571900" cy="523220"/>
          </a:xfrm>
          <a:prstGeom prst="rect">
            <a:avLst/>
          </a:prstGeom>
          <a:solidFill>
            <a:srgbClr val="7030A0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Tl= Días realmente laborados durante el mismo periodo utilizado en Tp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1" name="20 Imagen" descr="untitl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24" y="4286256"/>
            <a:ext cx="1500198" cy="18002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solidFill>
            <a:schemeClr val="bg1">
              <a:lumMod val="85000"/>
              <a:lumOff val="15000"/>
            </a:schemeClr>
          </a:soli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LEY DE SEGURO SOCIAL</a:t>
            </a:r>
            <a:b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</a:b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REGIMEN OBLIGARORIO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3143240" y="1428736"/>
            <a:ext cx="214314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ART.73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786446" y="1428736"/>
            <a:ext cx="2357454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11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00034" y="1428736"/>
            <a:ext cx="2357454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ART.168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57158" y="2285992"/>
            <a:ext cx="2857520" cy="30777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RETIRO 2%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7" name="26 Conector recto"/>
          <p:cNvCxnSpPr/>
          <p:nvPr/>
        </p:nvCxnSpPr>
        <p:spPr>
          <a:xfrm>
            <a:off x="4214810" y="2000240"/>
            <a:ext cx="328614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7214412" y="2000240"/>
            <a:ext cx="572298" cy="7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3357554" y="2285992"/>
            <a:ext cx="2643206" cy="52322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54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Inscribirse por primera vez o al cambiar de actividad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3357554" y="3429000"/>
            <a:ext cx="2857520" cy="307777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PRIMA MEDIA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00034" y="3357562"/>
            <a:ext cx="2357454" cy="307777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ART. 5A Fracc.   XVIII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428596" y="4214818"/>
            <a:ext cx="2357454" cy="30777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75000"/>
                  <a:shade val="30000"/>
                  <a:satMod val="115000"/>
                </a:schemeClr>
              </a:gs>
              <a:gs pos="50000">
                <a:schemeClr val="tx2">
                  <a:lumMod val="75000"/>
                  <a:shade val="67500"/>
                  <a:satMod val="115000"/>
                </a:schemeClr>
              </a:gs>
              <a:gs pos="100000">
                <a:schemeClr val="tx2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Salario Base de Cotización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3428992" y="4286256"/>
            <a:ext cx="2857520" cy="224676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PRIMA MEDIA EN PORCIENTOS</a:t>
            </a:r>
          </a:p>
          <a:p>
            <a:pPr algn="just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r>
              <a:rPr lang="en-US" sz="1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CLASE I                     0.54355</a:t>
            </a:r>
          </a:p>
          <a:p>
            <a:pPr algn="just"/>
            <a:r>
              <a:rPr lang="en-US" sz="1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CLASE II                    1.13065</a:t>
            </a:r>
          </a:p>
          <a:p>
            <a:pPr algn="just"/>
            <a:r>
              <a:rPr lang="en-US" sz="1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CLASE III                   2.59840</a:t>
            </a:r>
          </a:p>
          <a:p>
            <a:pPr algn="just"/>
            <a:r>
              <a:rPr lang="en-US" sz="1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CLASE IV                   4.65325</a:t>
            </a:r>
          </a:p>
          <a:p>
            <a:pPr algn="just"/>
            <a:r>
              <a:rPr lang="en-US" sz="1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CLASE  V                   7.58875</a:t>
            </a:r>
          </a:p>
          <a:p>
            <a:pPr algn="just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endParaRPr lang="en-US" sz="1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6286512" y="2285992"/>
            <a:ext cx="2643206" cy="224676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bg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bg2">
                  <a:lumMod val="60000"/>
                  <a:lumOff val="40000"/>
                  <a:shade val="100000"/>
                  <a:satMod val="115000"/>
                </a:schemeClr>
              </a:gs>
            </a:gsLst>
            <a:lin ang="8100000" scaled="1"/>
            <a:tileRect/>
          </a:gra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El regimen obligatorio comprende los seguros de: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I.- Riesgo de trabajo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ii.- Enfermedades y Maternidad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III.- Invalidez y Vida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IV:_ Retiro, Cesantía en edad avanzada y vejez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V.-Guarderías y prestaciones sociales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6" name="25 Conector recto"/>
          <p:cNvCxnSpPr/>
          <p:nvPr/>
        </p:nvCxnSpPr>
        <p:spPr>
          <a:xfrm>
            <a:off x="1785918" y="2000240"/>
            <a:ext cx="25003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27 Conector recto de flecha"/>
          <p:cNvCxnSpPr/>
          <p:nvPr/>
        </p:nvCxnSpPr>
        <p:spPr>
          <a:xfrm rot="5400000">
            <a:off x="1500166" y="2000240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 rot="5400000">
            <a:off x="3929058" y="2000240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41 Imagen" descr="image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4786323"/>
            <a:ext cx="1428760" cy="1639502"/>
          </a:xfrm>
          <a:prstGeom prst="rect">
            <a:avLst/>
          </a:prstGeom>
        </p:spPr>
      </p:pic>
      <p:cxnSp>
        <p:nvCxnSpPr>
          <p:cNvPr id="43" name="42 Conector recto de flecha"/>
          <p:cNvCxnSpPr/>
          <p:nvPr/>
        </p:nvCxnSpPr>
        <p:spPr>
          <a:xfrm rot="5400000">
            <a:off x="1393803" y="2892421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 rot="5400000">
            <a:off x="4429918" y="3071016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 de flecha"/>
          <p:cNvCxnSpPr/>
          <p:nvPr/>
        </p:nvCxnSpPr>
        <p:spPr>
          <a:xfrm rot="5400000">
            <a:off x="1286646" y="3928272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/>
          <p:nvPr/>
        </p:nvCxnSpPr>
        <p:spPr>
          <a:xfrm rot="5400000">
            <a:off x="4429918" y="3928272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solidFill>
            <a:schemeClr val="bg1">
              <a:lumMod val="85000"/>
              <a:lumOff val="15000"/>
            </a:schemeClr>
          </a:soli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OTRAS LEGISLACIONES</a:t>
            </a:r>
            <a:b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5929322" y="1857364"/>
            <a:ext cx="2857520" cy="1600438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just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AREA GEOGRAFICA</a:t>
            </a:r>
          </a:p>
          <a:p>
            <a:pPr algn="just"/>
            <a:r>
              <a:rPr lang="en-US" sz="1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 A                   B                  C</a:t>
            </a:r>
          </a:p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Pesos diarios</a:t>
            </a:r>
          </a:p>
          <a:p>
            <a:pPr algn="just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59.82           58.13            56.70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endParaRPr lang="en-US" sz="1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3" name="22 Imagen" descr="infonavi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28662" y="1928802"/>
            <a:ext cx="2012898" cy="1416750"/>
          </a:xfrm>
          <a:prstGeom prst="rect">
            <a:avLst/>
          </a:prstGeom>
        </p:spPr>
      </p:pic>
      <p:pic>
        <p:nvPicPr>
          <p:cNvPr id="24" name="23 Imagen" descr="obras%20publica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678" y="2643182"/>
            <a:ext cx="2486017" cy="1919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 HORARIO: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Erogaciones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por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uso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correcto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de las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maquinas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y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equipos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necesarios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para la ejecución del concepto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857852" y="2571744"/>
            <a:ext cx="3286148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Depreciación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5786446" y="1357298"/>
            <a:ext cx="2428892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ME= </a:t>
            </a:r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Phm</a:t>
            </a: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/</a:t>
            </a:r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Rhm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428596" y="2500306"/>
            <a:ext cx="3571900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Cargos por operación|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2715406" y="2928934"/>
            <a:ext cx="299960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2143108" y="2000240"/>
            <a:ext cx="45720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857488" y="4500570"/>
            <a:ext cx="2643206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Cargos por consumo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28596" y="3357562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Salarios por operación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857852" y="3143248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Inversión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5857852" y="3786190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Seguros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5857852" y="4286256"/>
            <a:ext cx="3286148" cy="73866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Mantenimiento:</a:t>
            </a: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Mayor o </a:t>
            </a:r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menor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2857488" y="5072074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Combustibles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2857488" y="5572140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Lubricantes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2857488" y="6000768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Llantas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2857488" y="6550223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Pzas. especiales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 rot="5400000">
            <a:off x="1929588" y="2213760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27 Imagen" descr="cargador-fron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3446"/>
            <a:ext cx="2479069" cy="1571636"/>
          </a:xfrm>
          <a:prstGeom prst="rect">
            <a:avLst/>
          </a:prstGeom>
        </p:spPr>
      </p:pic>
      <p:sp>
        <p:nvSpPr>
          <p:cNvPr id="29" name="28 CuadroTexto"/>
          <p:cNvSpPr txBox="1"/>
          <p:nvPr/>
        </p:nvSpPr>
        <p:spPr>
          <a:xfrm>
            <a:off x="214282" y="1428736"/>
            <a:ext cx="2428892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Art.194 RLOP o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42976" y="500042"/>
            <a:ext cx="6429420" cy="64294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CONSIDERACIONES PARA EL COSTOS HORARIO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857852" y="2571744"/>
            <a:ext cx="3286148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DEL EQUIPO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428596" y="2500306"/>
            <a:ext cx="3571900" cy="52322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VALOR CONSIDERADO COMO NUEVO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2715406" y="2928934"/>
            <a:ext cx="299960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2143108" y="2000240"/>
            <a:ext cx="45720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857488" y="4500570"/>
            <a:ext cx="2643206" cy="307777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OPERACION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428596" y="3357562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= tasa de interés+ puntos de banco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857852" y="3143248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Vida económica en horas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5857852" y="3786190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Rendimiento del equipo nuevo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5857852" y="4429132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Características ambientales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2857488" y="5072074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Habilidad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2857488" y="5572140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Capacitación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3" name="22 CuadroTexto"/>
          <p:cNvSpPr txBox="1"/>
          <p:nvPr/>
        </p:nvSpPr>
        <p:spPr>
          <a:xfrm>
            <a:off x="2857488" y="6000768"/>
            <a:ext cx="2643206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Eficiencia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 rot="5400000">
            <a:off x="1929588" y="2213760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428596" y="3929066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S= Prima annual promedio de seguros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5857852" y="5072074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Características geográficas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0" name="29 Imagen" descr="images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58" y="4429132"/>
            <a:ext cx="2314575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500166" y="0"/>
            <a:ext cx="6429420" cy="64294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COSTOS POR CONSUMO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57158" y="1928802"/>
            <a:ext cx="3786214" cy="52322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*LUBRICANTES   Lb= ((</a:t>
            </a:r>
            <a:r>
              <a:rPr lang="en-US" sz="1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Fa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*Pop)+Cc/Ca)*Pa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4001290" y="999314"/>
            <a:ext cx="57071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2143108" y="1428736"/>
            <a:ext cx="45720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1620" y="1642256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500034" y="2643182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Fa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= Factor de Aceite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214942" y="2643182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Fc= Factor de Combustible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5214942" y="3143248"/>
            <a:ext cx="3286148" cy="5232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Pop= Potencia de Operación= Factor de Potencia x HP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 rot="5400000">
            <a:off x="1929588" y="1642256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500034" y="3143248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Cc= Capacidad del Carter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4" name="23 CuadroTexto"/>
          <p:cNvSpPr txBox="1"/>
          <p:nvPr/>
        </p:nvSpPr>
        <p:spPr>
          <a:xfrm>
            <a:off x="214282" y="3643314"/>
            <a:ext cx="4286280" cy="5232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Ca= Tiempo entre cambios sucesivos de aceite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5143504" y="1857364"/>
            <a:ext cx="3571900" cy="52322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COMBUSTIBLE  Co=  </a:t>
            </a:r>
            <a:r>
              <a:rPr lang="en-US" sz="1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Fc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*Pop*Pc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5429256" y="1000108"/>
            <a:ext cx="3286148" cy="307777"/>
          </a:xfrm>
          <a:prstGeom prst="rect">
            <a:avLst/>
          </a:prstGeom>
          <a:solidFill>
            <a:schemeClr val="accent3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201 RLGOP y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-214346" y="928670"/>
            <a:ext cx="3714776" cy="116955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Tipo de Calculo</a:t>
            </a: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Detallado           Sin detalle</a:t>
            </a: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4" name="33 Elipse"/>
          <p:cNvSpPr/>
          <p:nvPr/>
        </p:nvSpPr>
        <p:spPr>
          <a:xfrm>
            <a:off x="0" y="121442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35 CuadroTexto"/>
          <p:cNvSpPr txBox="1"/>
          <p:nvPr/>
        </p:nvSpPr>
        <p:spPr>
          <a:xfrm>
            <a:off x="428596" y="4286256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Pa=Precio del Aceite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5214942" y="3929066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Pc= Precio del combustible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8" name="37 CuadroTexto"/>
          <p:cNvSpPr txBox="1"/>
          <p:nvPr/>
        </p:nvSpPr>
        <p:spPr>
          <a:xfrm>
            <a:off x="428596" y="5143512"/>
            <a:ext cx="3714776" cy="116955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Potencia de equipo           Fact</a:t>
            </a: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Si hp –o= 100                      0.0030</a:t>
            </a: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Si hp + 100                          0.0035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4857752" y="5214950"/>
            <a:ext cx="3714776" cy="116955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Combustible</a:t>
            </a:r>
          </a:p>
          <a:p>
            <a:pPr algn="ctr"/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Gasolna</a:t>
            </a: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                    0.2271</a:t>
            </a: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Diesel                         0.1514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500166" y="0"/>
            <a:ext cx="6429420" cy="642942"/>
          </a:xfrm>
          <a:gradFill flip="none" rotWithShape="1">
            <a:gsLst>
              <a:gs pos="0">
                <a:schemeClr val="accent2">
                  <a:shade val="30000"/>
                  <a:satMod val="115000"/>
                </a:schemeClr>
              </a:gs>
              <a:gs pos="50000">
                <a:schemeClr val="accent2">
                  <a:shade val="67500"/>
                  <a:satMod val="115000"/>
                </a:schemeClr>
              </a:gs>
              <a:gs pos="100000">
                <a:schemeClr val="accent2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bg1">
                <a:lumMod val="95000"/>
                <a:lumOff val="5000"/>
              </a:schemeClr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COSTOS POR CONSUMO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57158" y="1928802"/>
            <a:ext cx="3786214" cy="52322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*LUBRICANTES   Lb= (</a:t>
            </a:r>
            <a:r>
              <a:rPr lang="en-US" sz="1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Ah+Ga</a:t>
            </a:r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)*Pa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4001290" y="999314"/>
            <a:ext cx="57071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2143108" y="1428736"/>
            <a:ext cx="457203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1620" y="1642256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500034" y="2643182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Ah=Cantidad de Aceite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13 CuadroTexto"/>
          <p:cNvSpPr txBox="1"/>
          <p:nvPr/>
        </p:nvSpPr>
        <p:spPr>
          <a:xfrm>
            <a:off x="5214942" y="2643182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Gh=Cantidad de Combustible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6" name="25 Conector recto de flecha"/>
          <p:cNvCxnSpPr/>
          <p:nvPr/>
        </p:nvCxnSpPr>
        <p:spPr>
          <a:xfrm rot="5400000">
            <a:off x="1929588" y="1642256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500034" y="3143248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Ga=Cambios Sucesivos de Lubricantes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5143504" y="1857364"/>
            <a:ext cx="3571900" cy="523220"/>
          </a:xfrm>
          <a:prstGeom prst="rect">
            <a:avLst/>
          </a:prstGeom>
          <a:solidFill>
            <a:schemeClr val="accent3"/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COMBUSTIBLE  Co=  Gh*Pc</a:t>
            </a:r>
          </a:p>
          <a:p>
            <a:pPr algn="ctr"/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30 CuadroTexto"/>
          <p:cNvSpPr txBox="1"/>
          <p:nvPr/>
        </p:nvSpPr>
        <p:spPr>
          <a:xfrm>
            <a:off x="5429256" y="1000108"/>
            <a:ext cx="3286148" cy="307777"/>
          </a:xfrm>
          <a:prstGeom prst="rect">
            <a:avLst/>
          </a:prstGeom>
          <a:solidFill>
            <a:schemeClr val="accent3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200 y 203 RLGOP y SRM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-214346" y="928670"/>
            <a:ext cx="3714776" cy="1169551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Tipo de Calculo</a:t>
            </a:r>
          </a:p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Detallado           Sin detalle</a:t>
            </a: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ctr"/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4" name="33 Elipse"/>
          <p:cNvSpPr/>
          <p:nvPr/>
        </p:nvSpPr>
        <p:spPr>
          <a:xfrm>
            <a:off x="1714480" y="128586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35 CuadroTexto"/>
          <p:cNvSpPr txBox="1"/>
          <p:nvPr/>
        </p:nvSpPr>
        <p:spPr>
          <a:xfrm>
            <a:off x="428596" y="3714752"/>
            <a:ext cx="3571900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Pa=Precio del Aceite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0000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5214942" y="3214686"/>
            <a:ext cx="3286148" cy="307777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Pc= Precio del combustible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23" name="22 Imagen" descr="construccion-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942" y="3929066"/>
            <a:ext cx="2921438" cy="26432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071670" y="285728"/>
            <a:ext cx="5143536" cy="7143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RUTA CRITICA: Cuando la  base del contrato es a </a:t>
            </a:r>
            <a:r>
              <a:rPr lang="en-US" sz="16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precio</a:t>
            </a:r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alzado, y para efectos de control de obra. ART.45 APART . B </a:t>
            </a:r>
            <a:r>
              <a:rPr lang="en-US" sz="16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Fracc.II</a:t>
            </a:r>
            <a:endParaRPr lang="en-U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5857884" y="2428868"/>
            <a:ext cx="178595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Comienzo a comienzo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285852" y="2428868"/>
            <a:ext cx="17859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Fin a comienzo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10 CuadroTexto"/>
          <p:cNvSpPr txBox="1"/>
          <p:nvPr/>
        </p:nvSpPr>
        <p:spPr>
          <a:xfrm>
            <a:off x="1214414" y="4857760"/>
            <a:ext cx="17859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Fin a fin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3929058" y="1714488"/>
            <a:ext cx="57150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 rot="10800000">
            <a:off x="2214546" y="2000240"/>
            <a:ext cx="200026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4214810" y="2000240"/>
            <a:ext cx="250033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 de flecha"/>
          <p:cNvCxnSpPr/>
          <p:nvPr/>
        </p:nvCxnSpPr>
        <p:spPr>
          <a:xfrm rot="5400000">
            <a:off x="2035951" y="217883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500826" y="2214554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34 Imagen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428604"/>
            <a:ext cx="1214446" cy="1214446"/>
          </a:xfrm>
          <a:prstGeom prst="rect">
            <a:avLst/>
          </a:prstGeom>
        </p:spPr>
      </p:pic>
      <p:cxnSp>
        <p:nvCxnSpPr>
          <p:cNvPr id="44" name="43 Conector recto de flecha"/>
          <p:cNvCxnSpPr/>
          <p:nvPr/>
        </p:nvCxnSpPr>
        <p:spPr>
          <a:xfrm rot="5400000">
            <a:off x="1964513" y="2964653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recto de flecha"/>
          <p:cNvCxnSpPr/>
          <p:nvPr/>
        </p:nvCxnSpPr>
        <p:spPr>
          <a:xfrm rot="5400000">
            <a:off x="6537339" y="310673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 Título"/>
          <p:cNvSpPr txBox="1">
            <a:spLocks/>
          </p:cNvSpPr>
          <p:nvPr/>
        </p:nvSpPr>
        <p:spPr>
          <a:xfrm>
            <a:off x="2143108" y="1285860"/>
            <a:ext cx="4143404" cy="2857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TIPOS  DE LIGA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5786446" y="4572008"/>
            <a:ext cx="1785950" cy="3077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Comienzo a fin</a:t>
            </a: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5" name="24 Rectángulo redondeado"/>
          <p:cNvSpPr/>
          <p:nvPr/>
        </p:nvSpPr>
        <p:spPr>
          <a:xfrm>
            <a:off x="1142976" y="3571876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25 Rectángulo redondeado"/>
          <p:cNvSpPr/>
          <p:nvPr/>
        </p:nvSpPr>
        <p:spPr>
          <a:xfrm>
            <a:off x="2857488" y="4286256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27 Rectángulo redondeado"/>
          <p:cNvSpPr/>
          <p:nvPr/>
        </p:nvSpPr>
        <p:spPr>
          <a:xfrm>
            <a:off x="1214414" y="4000504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28 Rectángulo redondeado"/>
          <p:cNvSpPr/>
          <p:nvPr/>
        </p:nvSpPr>
        <p:spPr>
          <a:xfrm>
            <a:off x="1142976" y="3214686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41 Conector recto"/>
          <p:cNvCxnSpPr/>
          <p:nvPr/>
        </p:nvCxnSpPr>
        <p:spPr>
          <a:xfrm>
            <a:off x="2714612" y="3286124"/>
            <a:ext cx="35719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 rot="5400000">
            <a:off x="3001158" y="3357562"/>
            <a:ext cx="14208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rot="10800000">
            <a:off x="857224" y="3429000"/>
            <a:ext cx="221457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53 Conector recto"/>
          <p:cNvCxnSpPr/>
          <p:nvPr/>
        </p:nvCxnSpPr>
        <p:spPr>
          <a:xfrm rot="5400000">
            <a:off x="750861" y="3535363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 de flecha"/>
          <p:cNvCxnSpPr/>
          <p:nvPr/>
        </p:nvCxnSpPr>
        <p:spPr>
          <a:xfrm>
            <a:off x="857224" y="3643314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"/>
          <p:cNvCxnSpPr/>
          <p:nvPr/>
        </p:nvCxnSpPr>
        <p:spPr>
          <a:xfrm>
            <a:off x="2786050" y="4071942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/>
          <p:nvPr/>
        </p:nvCxnSpPr>
        <p:spPr>
          <a:xfrm rot="5400000">
            <a:off x="2821769" y="4179099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64 Rectángulo redondeado"/>
          <p:cNvSpPr/>
          <p:nvPr/>
        </p:nvSpPr>
        <p:spPr>
          <a:xfrm>
            <a:off x="5929322" y="3286124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65 Rectángulo redondeado"/>
          <p:cNvSpPr/>
          <p:nvPr/>
        </p:nvSpPr>
        <p:spPr>
          <a:xfrm>
            <a:off x="5929322" y="3571876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66 Rectángulo redondeado"/>
          <p:cNvSpPr/>
          <p:nvPr/>
        </p:nvSpPr>
        <p:spPr>
          <a:xfrm>
            <a:off x="5929322" y="3929066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67 Rectángulo redondeado"/>
          <p:cNvSpPr/>
          <p:nvPr/>
        </p:nvSpPr>
        <p:spPr>
          <a:xfrm>
            <a:off x="5929322" y="4214818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68 Conector recto"/>
          <p:cNvCxnSpPr/>
          <p:nvPr/>
        </p:nvCxnSpPr>
        <p:spPr>
          <a:xfrm rot="5400000">
            <a:off x="5572132" y="3500438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 de flecha"/>
          <p:cNvCxnSpPr/>
          <p:nvPr/>
        </p:nvCxnSpPr>
        <p:spPr>
          <a:xfrm>
            <a:off x="5715008" y="3643314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recto"/>
          <p:cNvCxnSpPr/>
          <p:nvPr/>
        </p:nvCxnSpPr>
        <p:spPr>
          <a:xfrm rot="10800000">
            <a:off x="5715008" y="3357562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"/>
          <p:cNvCxnSpPr/>
          <p:nvPr/>
        </p:nvCxnSpPr>
        <p:spPr>
          <a:xfrm rot="10800000">
            <a:off x="5715008" y="4000504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"/>
          <p:cNvCxnSpPr/>
          <p:nvPr/>
        </p:nvCxnSpPr>
        <p:spPr>
          <a:xfrm rot="5400000">
            <a:off x="5572926" y="3499644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"/>
          <p:cNvCxnSpPr/>
          <p:nvPr/>
        </p:nvCxnSpPr>
        <p:spPr>
          <a:xfrm rot="5400000">
            <a:off x="5572926" y="4142586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/>
          <p:nvPr/>
        </p:nvCxnSpPr>
        <p:spPr>
          <a:xfrm>
            <a:off x="5715008" y="4286256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77 Rectángulo redondeado"/>
          <p:cNvSpPr/>
          <p:nvPr/>
        </p:nvSpPr>
        <p:spPr>
          <a:xfrm>
            <a:off x="1285852" y="5357826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78 Rectángulo redondeado"/>
          <p:cNvSpPr/>
          <p:nvPr/>
        </p:nvSpPr>
        <p:spPr>
          <a:xfrm>
            <a:off x="1285852" y="5643578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79 Rectángulo redondeado"/>
          <p:cNvSpPr/>
          <p:nvPr/>
        </p:nvSpPr>
        <p:spPr>
          <a:xfrm>
            <a:off x="1285852" y="5929330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80 Rectángulo redondeado"/>
          <p:cNvSpPr/>
          <p:nvPr/>
        </p:nvSpPr>
        <p:spPr>
          <a:xfrm>
            <a:off x="1285852" y="6215082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82 Conector recto"/>
          <p:cNvCxnSpPr/>
          <p:nvPr/>
        </p:nvCxnSpPr>
        <p:spPr>
          <a:xfrm>
            <a:off x="2857488" y="5429264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85 Conector recto"/>
          <p:cNvCxnSpPr/>
          <p:nvPr/>
        </p:nvCxnSpPr>
        <p:spPr>
          <a:xfrm rot="5400000">
            <a:off x="2928926" y="5572140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88 Conector recto de flecha"/>
          <p:cNvCxnSpPr/>
          <p:nvPr/>
        </p:nvCxnSpPr>
        <p:spPr>
          <a:xfrm rot="10800000">
            <a:off x="2857488" y="5715016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"/>
          <p:cNvCxnSpPr/>
          <p:nvPr/>
        </p:nvCxnSpPr>
        <p:spPr>
          <a:xfrm>
            <a:off x="2857488" y="6000768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91 Conector recto de flecha"/>
          <p:cNvCxnSpPr/>
          <p:nvPr/>
        </p:nvCxnSpPr>
        <p:spPr>
          <a:xfrm rot="10800000">
            <a:off x="2857488" y="6286520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92 Conector recto"/>
          <p:cNvCxnSpPr/>
          <p:nvPr/>
        </p:nvCxnSpPr>
        <p:spPr>
          <a:xfrm rot="5400000">
            <a:off x="2929720" y="5571346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93 Conector recto"/>
          <p:cNvCxnSpPr/>
          <p:nvPr/>
        </p:nvCxnSpPr>
        <p:spPr>
          <a:xfrm rot="5400000">
            <a:off x="2929720" y="6142850"/>
            <a:ext cx="28575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94 Rectángulo redondeado"/>
          <p:cNvSpPr/>
          <p:nvPr/>
        </p:nvSpPr>
        <p:spPr>
          <a:xfrm>
            <a:off x="5857884" y="5357826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95 Rectángulo redondeado"/>
          <p:cNvSpPr/>
          <p:nvPr/>
        </p:nvSpPr>
        <p:spPr>
          <a:xfrm>
            <a:off x="5857884" y="5643578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96 Rectángulo redondeado"/>
          <p:cNvSpPr/>
          <p:nvPr/>
        </p:nvSpPr>
        <p:spPr>
          <a:xfrm>
            <a:off x="5857884" y="6286520"/>
            <a:ext cx="1571636" cy="14287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97 Rectángulo redondeado"/>
          <p:cNvSpPr/>
          <p:nvPr/>
        </p:nvSpPr>
        <p:spPr>
          <a:xfrm>
            <a:off x="7429520" y="6000768"/>
            <a:ext cx="1571636" cy="142876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99 Conector recto"/>
          <p:cNvCxnSpPr/>
          <p:nvPr/>
        </p:nvCxnSpPr>
        <p:spPr>
          <a:xfrm rot="10800000">
            <a:off x="5643570" y="5429264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101 Conector recto"/>
          <p:cNvCxnSpPr/>
          <p:nvPr/>
        </p:nvCxnSpPr>
        <p:spPr>
          <a:xfrm rot="5400000">
            <a:off x="5572132" y="5500702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103 Conector recto"/>
          <p:cNvCxnSpPr/>
          <p:nvPr/>
        </p:nvCxnSpPr>
        <p:spPr>
          <a:xfrm>
            <a:off x="5643570" y="5572140"/>
            <a:ext cx="207170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105 Conector recto"/>
          <p:cNvCxnSpPr/>
          <p:nvPr/>
        </p:nvCxnSpPr>
        <p:spPr>
          <a:xfrm rot="5400000">
            <a:off x="7644628" y="5642784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109 Conector recto de flecha"/>
          <p:cNvCxnSpPr/>
          <p:nvPr/>
        </p:nvCxnSpPr>
        <p:spPr>
          <a:xfrm rot="10800000">
            <a:off x="7429520" y="5715016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110 Conector recto de flecha"/>
          <p:cNvCxnSpPr/>
          <p:nvPr/>
        </p:nvCxnSpPr>
        <p:spPr>
          <a:xfrm rot="10800000">
            <a:off x="7429520" y="6357958"/>
            <a:ext cx="21431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111 Conector recto"/>
          <p:cNvCxnSpPr/>
          <p:nvPr/>
        </p:nvCxnSpPr>
        <p:spPr>
          <a:xfrm rot="10800000">
            <a:off x="7215206" y="6072206"/>
            <a:ext cx="21431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"/>
          <p:cNvCxnSpPr/>
          <p:nvPr/>
        </p:nvCxnSpPr>
        <p:spPr>
          <a:xfrm rot="5400000">
            <a:off x="5572926" y="5499908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113 Conector recto"/>
          <p:cNvCxnSpPr/>
          <p:nvPr/>
        </p:nvCxnSpPr>
        <p:spPr>
          <a:xfrm rot="5400000">
            <a:off x="7144562" y="6142850"/>
            <a:ext cx="14287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121 Conector recto"/>
          <p:cNvCxnSpPr/>
          <p:nvPr/>
        </p:nvCxnSpPr>
        <p:spPr>
          <a:xfrm>
            <a:off x="7215206" y="6215082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123 Conector recto"/>
          <p:cNvCxnSpPr/>
          <p:nvPr/>
        </p:nvCxnSpPr>
        <p:spPr>
          <a:xfrm rot="5400000">
            <a:off x="7573190" y="6286520"/>
            <a:ext cx="142082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071670" y="285728"/>
            <a:ext cx="5143536" cy="71438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6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CONSIDERACIONES PARA EL FACTOR DE SOBRECOSTO</a:t>
            </a:r>
            <a:endParaRPr lang="en-US" sz="16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2071670" y="2000240"/>
            <a:ext cx="4714908" cy="310854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Analisis de costo  directo de c/u de los conceptos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Costos de los </a:t>
            </a:r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insumos</a:t>
            </a: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actualizados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Analisis de factor de salario real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Programa de obra realizado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Calcular explosion de </a:t>
            </a:r>
            <a:r>
              <a:rPr lang="en-US" sz="1400" b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insumos</a:t>
            </a: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por conceptos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Calcular programa de  suministros</a:t>
            </a:r>
          </a:p>
          <a:p>
            <a:pPr algn="just">
              <a:buFontTx/>
              <a:buChar char="-"/>
            </a:pPr>
            <a:endParaRPr lang="en-US" sz="1400" b="1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algn="just">
              <a:buFontTx/>
              <a:buChar char="-"/>
            </a:pPr>
            <a:r>
              <a:rPr lang="en-US" sz="14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Calcular programa de suministros por partida</a:t>
            </a:r>
          </a:p>
          <a:p>
            <a:pPr algn="just">
              <a:buFontTx/>
              <a:buChar char="-"/>
            </a:pPr>
            <a:endParaRPr lang="en-US" sz="1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35" name="34 Imagen" descr="untit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96" y="428604"/>
            <a:ext cx="1214446" cy="1214446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14414" y="785794"/>
            <a:ext cx="6429420" cy="6429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b="1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FACTOR DE SALARIO BASE DE COTIZACION</a:t>
            </a:r>
            <a:endParaRPr lang="en-US" sz="1600" b="1" dirty="0">
              <a:ln w="12700">
                <a:solidFill>
                  <a:schemeClr val="tx1"/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357158" y="4286256"/>
            <a:ext cx="2786082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Salario Base de Cotización</a:t>
            </a:r>
          </a:p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10 RLSS</a:t>
            </a:r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3964777" y="1964521"/>
            <a:ext cx="92869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357158" y="2285992"/>
          <a:ext cx="2928957" cy="1737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930"/>
                <a:gridCol w="1859656"/>
                <a:gridCol w="697371"/>
              </a:tblGrid>
              <a:tr h="365761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|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7828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1.- 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Dias pagados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365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7828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2.-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Prima</a:t>
                      </a:r>
                      <a:r>
                        <a:rPr lang="en-US" sz="1200" b="1" baseline="0" dirty="0" smtClean="0">
                          <a:latin typeface="+mn-lt"/>
                        </a:rPr>
                        <a:t> vacacional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1.5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7828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3.-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Aguinaldo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15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7828"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4.-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Total</a:t>
                      </a:r>
                      <a:r>
                        <a:rPr lang="en-US" sz="1200" b="1" baseline="0" dirty="0" smtClean="0">
                          <a:latin typeface="+mn-lt"/>
                        </a:rPr>
                        <a:t> dias pagados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latin typeface="+mn-lt"/>
                        </a:rPr>
                        <a:t>381.50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7828">
                <a:tc>
                  <a:txBody>
                    <a:bodyPr/>
                    <a:lstStyle/>
                    <a:p>
                      <a:endParaRPr lang="en-US" sz="1200" b="1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18 CuadroTexto"/>
          <p:cNvSpPr txBox="1"/>
          <p:nvPr/>
        </p:nvSpPr>
        <p:spPr>
          <a:xfrm>
            <a:off x="214282" y="5000636"/>
            <a:ext cx="2928958" cy="430887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SE  INTEGRA CON LOS PAGOS HECHOS EN EFECTIVO POR CUOTA DIARIA</a:t>
            </a:r>
            <a:endParaRPr lang="en-US" sz="11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1" name="20 CuadroTexto"/>
          <p:cNvSpPr txBox="1"/>
          <p:nvPr/>
        </p:nvSpPr>
        <p:spPr>
          <a:xfrm>
            <a:off x="3714744" y="2428868"/>
            <a:ext cx="2071702" cy="2539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FSBC= 381.5/365= 1.0452</a:t>
            </a:r>
            <a:endParaRPr lang="en-US" sz="105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6429388" y="2428868"/>
            <a:ext cx="2071702" cy="2539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Salario  Art.82 LFT  </a:t>
            </a:r>
            <a:endParaRPr lang="en-US" sz="105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6000760" y="3000372"/>
            <a:ext cx="2928958" cy="60016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RETRIBUCION QUE DEBE PAGAR EL PATRON AL TRABAJADOR POR SU TRABAJO</a:t>
            </a:r>
            <a:endParaRPr lang="en-US" sz="11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6286512" y="3929066"/>
            <a:ext cx="2428892" cy="2539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Prima Vacacional  Art.80  LFT </a:t>
            </a:r>
            <a:endParaRPr lang="en-US" sz="105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28 CuadroTexto"/>
          <p:cNvSpPr txBox="1"/>
          <p:nvPr/>
        </p:nvSpPr>
        <p:spPr>
          <a:xfrm>
            <a:off x="6000760" y="4429132"/>
            <a:ext cx="2928958" cy="600164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25% SOBRE LOS SALARIOS QUE LES CORRESPONDAN DURANTE EL PERIODO DE VACAIONES</a:t>
            </a:r>
            <a:endParaRPr lang="en-US" sz="11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2" name="31 CuadroTexto"/>
          <p:cNvSpPr txBox="1"/>
          <p:nvPr/>
        </p:nvSpPr>
        <p:spPr>
          <a:xfrm>
            <a:off x="6215074" y="5072074"/>
            <a:ext cx="2428892" cy="2539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Aguinaldo  Art.87  LFT </a:t>
            </a:r>
            <a:endParaRPr lang="en-US" sz="105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6000760" y="5572140"/>
            <a:ext cx="2928958" cy="261610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EQUIVALENTE A 15 DIAS DE SALARIO</a:t>
            </a:r>
            <a:endParaRPr lang="en-US" sz="11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14414" y="785794"/>
            <a:ext cx="6429420" cy="64294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b="1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TIPOS DE ANICIPOS</a:t>
            </a:r>
            <a:endParaRPr lang="en-US" sz="1600" b="1" dirty="0">
              <a:ln w="12700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28596" y="2428868"/>
            <a:ext cx="2786082" cy="27699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50 FRACC. V  LOP Y SRM</a:t>
            </a:r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cxnSp>
        <p:nvCxnSpPr>
          <p:cNvPr id="22" name="21 Conector recto"/>
          <p:cNvCxnSpPr/>
          <p:nvPr/>
        </p:nvCxnSpPr>
        <p:spPr>
          <a:xfrm rot="5400000">
            <a:off x="3679819" y="1963727"/>
            <a:ext cx="107157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214282" y="3143248"/>
            <a:ext cx="2928958" cy="13234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Cuando los trabajos rebase más de un ejercicio presupuestario y se inicien en el  ultimo trimestre del ejercicio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5214942" y="2285992"/>
            <a:ext cx="3214710" cy="4154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ENTREGA  DE  ANTICIPO Art.50</a:t>
            </a:r>
          </a:p>
          <a:p>
            <a:r>
              <a:rPr lang="en-US" sz="105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FRACC.I  LOP T SRM</a:t>
            </a:r>
            <a:endParaRPr lang="en-US" sz="105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6" name="25 CuadroTexto"/>
          <p:cNvSpPr txBox="1"/>
          <p:nvPr/>
        </p:nvSpPr>
        <p:spPr>
          <a:xfrm>
            <a:off x="5715008" y="3143248"/>
            <a:ext cx="2428892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Anticipo en una sola exhibición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  <p:cxnSp>
        <p:nvCxnSpPr>
          <p:cNvPr id="14" name="13 Conector recto"/>
          <p:cNvCxnSpPr/>
          <p:nvPr/>
        </p:nvCxnSpPr>
        <p:spPr>
          <a:xfrm rot="10800000">
            <a:off x="3214678" y="2500306"/>
            <a:ext cx="200026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5715008" y="4286256"/>
            <a:ext cx="2428892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Anticipo en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varias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 </a:t>
            </a:r>
            <a:r>
              <a:rPr lang="en-US" sz="16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parcialidades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  <p:cxnSp>
        <p:nvCxnSpPr>
          <p:cNvPr id="27" name="26 Conector recto"/>
          <p:cNvCxnSpPr/>
          <p:nvPr/>
        </p:nvCxnSpPr>
        <p:spPr>
          <a:xfrm rot="5400000">
            <a:off x="6644496" y="3999710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29 Conector recto"/>
          <p:cNvCxnSpPr/>
          <p:nvPr/>
        </p:nvCxnSpPr>
        <p:spPr>
          <a:xfrm rot="5400000">
            <a:off x="6608777" y="2892421"/>
            <a:ext cx="35719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 rot="5400000">
            <a:off x="1465241" y="2892421"/>
            <a:ext cx="35719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14414" y="785794"/>
            <a:ext cx="6429420" cy="6429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INDIRECTOS CON CARGO ADICIONAL SFP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3" name="12 Objeto"/>
          <p:cNvGraphicFramePr>
            <a:graphicFrameLocks noChangeAspect="1"/>
          </p:cNvGraphicFramePr>
          <p:nvPr/>
        </p:nvGraphicFramePr>
        <p:xfrm>
          <a:off x="1676400" y="1993900"/>
          <a:ext cx="5257800" cy="3060700"/>
        </p:xfrm>
        <a:graphic>
          <a:graphicData uri="http://schemas.openxmlformats.org/presentationml/2006/ole">
            <p:oleObj spid="_x0000_s1026" name="Hoja de cálculo" r:id="rId3" imgW="5257935" imgH="3057457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14414" y="785794"/>
            <a:ext cx="6429420" cy="6429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INDIRECTOS CON CARGO UNICO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3" name="12 Objeto"/>
          <p:cNvGraphicFramePr>
            <a:graphicFrameLocks noChangeAspect="1"/>
          </p:cNvGraphicFramePr>
          <p:nvPr/>
        </p:nvGraphicFramePr>
        <p:xfrm>
          <a:off x="1676400" y="1993900"/>
          <a:ext cx="5270500" cy="3060700"/>
        </p:xfrm>
        <a:graphic>
          <a:graphicData uri="http://schemas.openxmlformats.org/presentationml/2006/ole">
            <p:oleObj spid="_x0000_s2050" name="Hoja de cálculo" r:id="rId3" imgW="5257935" imgH="3057457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85720" y="1214422"/>
            <a:ext cx="2500330" cy="714380"/>
          </a:xfrm>
          <a:prstGeom prst="homePlate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COSTOS POR FINANIAMIENTO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428596" y="2428868"/>
            <a:ext cx="1928826" cy="28575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214  LOP Y SRM</a:t>
            </a:r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214282" y="2714620"/>
            <a:ext cx="2928958" cy="337911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El costo de financiamiento deberá de estar representado por un porcentaje de la suma de los costos directos e indirectos  y corresponderá a los gastos derivados por la inversión de recursos propios o contratados que realice en contratista para dar cumplimiento al programa de ejecución de los trabajos calendarizados y valorizados por periódos.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  <p:sp>
        <p:nvSpPr>
          <p:cNvPr id="13" name="12 CuadroTexto"/>
          <p:cNvSpPr txBox="1"/>
          <p:nvPr/>
        </p:nvSpPr>
        <p:spPr>
          <a:xfrm>
            <a:off x="3428992" y="2500306"/>
            <a:ext cx="1928826" cy="28575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Art54 LOP Y SRM</a:t>
            </a:r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14 CuadroTexto"/>
          <p:cNvSpPr txBox="1"/>
          <p:nvPr/>
        </p:nvSpPr>
        <p:spPr>
          <a:xfrm>
            <a:off x="3500430" y="2928934"/>
            <a:ext cx="2143140" cy="288482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Fecha de presentación: 6 días naturales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Revisión y autorización: 15 días naturales</a:t>
            </a: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Pago: 20 días naturales</a:t>
            </a:r>
          </a:p>
          <a:p>
            <a:endParaRPr lang="en-US" sz="1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  <a:p>
            <a:endParaRPr lang="en-US" sz="14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Total   41 días naturales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  <p:sp>
        <p:nvSpPr>
          <p:cNvPr id="16" name="1 Título"/>
          <p:cNvSpPr txBox="1">
            <a:spLocks/>
          </p:cNvSpPr>
          <p:nvPr/>
        </p:nvSpPr>
        <p:spPr>
          <a:xfrm>
            <a:off x="3357554" y="1214422"/>
            <a:ext cx="2500330" cy="714380"/>
          </a:xfrm>
          <a:prstGeom prst="homePlate">
            <a:avLst/>
          </a:prstGeom>
          <a:solidFill>
            <a:srgbClr val="92D050"/>
          </a:solidFill>
          <a:ln w="25400" cap="flat" cmpd="sng" algn="ctr">
            <a:solidFill>
              <a:srgbClr val="92D050"/>
            </a:solidFill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TOTAL DE DIAS PARA PAGO DE UNA ESTIMACIÓN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7" name="1 Título"/>
          <p:cNvSpPr txBox="1">
            <a:spLocks/>
          </p:cNvSpPr>
          <p:nvPr/>
        </p:nvSpPr>
        <p:spPr>
          <a:xfrm>
            <a:off x="6357950" y="1214422"/>
            <a:ext cx="2500330" cy="714380"/>
          </a:xfrm>
          <a:prstGeom prst="homePlate">
            <a:avLst/>
          </a:prstGeom>
          <a:solidFill>
            <a:srgbClr val="92D050"/>
          </a:solidFill>
          <a:ln w="25400" cap="flat" cmpd="sng" algn="ctr">
            <a:solidFill>
              <a:srgbClr val="92D050"/>
            </a:solidFill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LEY FEDERAL DE DERECHOS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17 CuadroTexto"/>
          <p:cNvSpPr txBox="1"/>
          <p:nvPr/>
        </p:nvSpPr>
        <p:spPr>
          <a:xfrm>
            <a:off x="6572264" y="2500306"/>
            <a:ext cx="1928826" cy="285752"/>
          </a:xfrm>
          <a:prstGeom prst="rect">
            <a:avLst/>
          </a:prstGeom>
          <a:noFill/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Art. 191 LOP Y SRM</a:t>
            </a:r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000760" y="3071810"/>
            <a:ext cx="2928958" cy="57888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tang" pitchFamily="18" charset="-127"/>
                <a:ea typeface="Batang" pitchFamily="18" charset="-127"/>
                <a:cs typeface="Tahoma" pitchFamily="34" charset="0"/>
              </a:rPr>
              <a:t>5 al millar sobre el importe de cada una de las estimaciones</a:t>
            </a:r>
            <a:endParaRPr lang="en-US" sz="1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tang" pitchFamily="18" charset="-127"/>
              <a:ea typeface="Batang" pitchFamily="18" charset="-127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85852" y="428604"/>
            <a:ext cx="6429420" cy="28575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ALGUNOS PARAMETROS DE VARIAS DEPENDENCIAS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3" name="12 Objeto"/>
          <p:cNvGraphicFramePr>
            <a:graphicFrameLocks noChangeAspect="1"/>
          </p:cNvGraphicFramePr>
          <p:nvPr/>
        </p:nvGraphicFramePr>
        <p:xfrm>
          <a:off x="749300" y="1320800"/>
          <a:ext cx="7734300" cy="4940300"/>
        </p:xfrm>
        <a:graphic>
          <a:graphicData uri="http://schemas.openxmlformats.org/presentationml/2006/ole">
            <p:oleObj spid="_x0000_s3074" name="Hoja de cálculo" r:id="rId3" imgW="7734367" imgH="4934085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000364" y="214290"/>
            <a:ext cx="3214710" cy="64294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REPORTES</a:t>
            </a:r>
            <a:endParaRPr lang="en-US" sz="1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6000760" y="1785926"/>
            <a:ext cx="2643206" cy="5715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1.- PRESUPUESTO: a)</a:t>
            </a: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estándar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b)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Precio unitario con letra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5" name="4 Imagen" descr="icono_imprimi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3143250"/>
            <a:ext cx="571500" cy="571500"/>
          </a:xfrm>
          <a:prstGeom prst="rect">
            <a:avLst/>
          </a:prstGeom>
        </p:spPr>
      </p:pic>
      <p:pic>
        <p:nvPicPr>
          <p:cNvPr id="6" name="5 Imagen" descr="EXCE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29124" y="2786058"/>
            <a:ext cx="352421" cy="359166"/>
          </a:xfrm>
          <a:prstGeom prst="rect">
            <a:avLst/>
          </a:prstGeom>
        </p:spPr>
      </p:pic>
      <p:sp>
        <p:nvSpPr>
          <p:cNvPr id="8" name="1 Título"/>
          <p:cNvSpPr txBox="1">
            <a:spLocks/>
          </p:cNvSpPr>
          <p:nvPr/>
        </p:nvSpPr>
        <p:spPr>
          <a:xfrm>
            <a:off x="6000760" y="2428868"/>
            <a:ext cx="2643206" cy="1285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2.- MATRICES: a) estándar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b) Básicos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 HORARIO: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ESTANDAR: a)</a:t>
            </a: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estandar solo activo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b)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estandar: activa-espera-reserva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1 Título"/>
          <p:cNvSpPr txBox="1">
            <a:spLocks/>
          </p:cNvSpPr>
          <p:nvPr/>
        </p:nvSpPr>
        <p:spPr>
          <a:xfrm>
            <a:off x="6000760" y="4214818"/>
            <a:ext cx="2643206" cy="21431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3.- INSUMOS: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Costo de materiales desglosado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Costo de maquinaria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Listado de insumo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Mano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de obra gravable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Relación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 de costos  de materiales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Tabulador salario base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Relación de maquinaria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600" baseline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357158" y="857232"/>
            <a:ext cx="2643206" cy="12144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4.- PROGRAMAS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Programa de obra por concepto: estándar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Programa de suministros: equipo, mano</a:t>
            </a: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 de obra y materiales.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1 Título"/>
          <p:cNvSpPr txBox="1">
            <a:spLocks/>
          </p:cNvSpPr>
          <p:nvPr/>
        </p:nvSpPr>
        <p:spPr>
          <a:xfrm>
            <a:off x="357158" y="2143116"/>
            <a:ext cx="2643206" cy="207170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5.-FACTORES: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Fasar: Captura de datos,fsr_ factor jornada 8 hrs, Ps_Factor, fasar una tabla normal</a:t>
            </a: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Sobre costo horizontal:ndirectos desglosados, Resumen de indirectos, Personal técnico, finan_horizontal, utilidad, cargos adicionales, Resumen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1 Título"/>
          <p:cNvSpPr txBox="1">
            <a:spLocks/>
          </p:cNvSpPr>
          <p:nvPr/>
        </p:nvSpPr>
        <p:spPr>
          <a:xfrm>
            <a:off x="357158" y="4357694"/>
            <a:ext cx="2643206" cy="121444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>
              <a:spcBef>
                <a:spcPct val="0"/>
              </a:spcBef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6.- TOTALES:</a:t>
            </a:r>
          </a:p>
          <a:p>
            <a:pPr>
              <a:spcBef>
                <a:spcPct val="0"/>
              </a:spcBef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1</a:t>
            </a:r>
            <a:r>
              <a:rPr lang="en-US" sz="1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) Resumen de Insumos  : Resumen de Insumos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2) Totales del  presupuesto:estandar  e Importes con letra</a:t>
            </a:r>
          </a:p>
        </p:txBody>
      </p:sp>
      <p:sp>
        <p:nvSpPr>
          <p:cNvPr id="14" name="1 Título"/>
          <p:cNvSpPr txBox="1">
            <a:spLocks/>
          </p:cNvSpPr>
          <p:nvPr/>
        </p:nvSpPr>
        <p:spPr>
          <a:xfrm>
            <a:off x="428596" y="5786454"/>
            <a:ext cx="2643206" cy="57150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7.- OFICIOS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Documentos</a:t>
            </a:r>
            <a:r>
              <a:rPr kumimoji="0" lang="en-US" sz="1600" b="0" i="0" u="none" strike="noStrike" kern="1200" cap="none" spc="0" normalizeH="0" noProof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uLnTx/>
                <a:uFillTx/>
                <a:latin typeface="Tahoma" pitchFamily="34" charset="0"/>
                <a:ea typeface="Tahoma" pitchFamily="34" charset="0"/>
                <a:cs typeface="Tahoma" pitchFamily="34" charset="0"/>
              </a:rPr>
              <a:t> técnicos</a:t>
            </a:r>
            <a:endParaRPr kumimoji="0" lang="en-US" sz="1600" b="0" i="0" u="none" strike="noStrike" kern="1200" cap="none" spc="0" normalizeH="0" baseline="0" noProof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uLnTx/>
              <a:uFillTx/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l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l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492</TotalTime>
  <Words>1020</Words>
  <Application>Microsoft Office PowerPoint</Application>
  <PresentationFormat>Presentación en pantalla (4:3)</PresentationFormat>
  <Paragraphs>214</Paragraphs>
  <Slides>18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Papel</vt:lpstr>
      <vt:lpstr>Hoja de cálculo</vt:lpstr>
      <vt:lpstr>ADQUIRIR O PRODUCIR LOS MATERIALES NECESARIOS</vt:lpstr>
      <vt:lpstr>PAGO DE SALARIOS REALES AL PERSONAL QUE INTERVIENE EN LA EJECUCION DELCONCEPTO</vt:lpstr>
      <vt:lpstr>FASAR: Factor de salario real</vt:lpstr>
      <vt:lpstr>LEY DE SEGURO SOCIAL REGIMEN OBLIGARORIO</vt:lpstr>
      <vt:lpstr>OTRAS LEGISLACIONES </vt:lpstr>
      <vt:lpstr>COSTO HORARIO: Erogaciones por uso correcto de las maquinas y equipos necesarios para la ejecución del concepto</vt:lpstr>
      <vt:lpstr>CONSIDERACIONES PARA EL COSTOS HORARIO</vt:lpstr>
      <vt:lpstr>COSTOS POR CONSUMO</vt:lpstr>
      <vt:lpstr>COSTOS POR CONSUMO</vt:lpstr>
      <vt:lpstr>RUTA CRITICA: Cuando la  base del contrato es a precio alzado, y para efectos de control de obra. ART.45 APART . B Fracc.II</vt:lpstr>
      <vt:lpstr>CONSIDERACIONES PARA EL FACTOR DE SOBRECOSTO</vt:lpstr>
      <vt:lpstr>FACTOR DE SALARIO BASE DE COTIZACION</vt:lpstr>
      <vt:lpstr>TIPOS DE ANICIPOS</vt:lpstr>
      <vt:lpstr>INDIRECTOS CON CARGO ADICIONAL SFP</vt:lpstr>
      <vt:lpstr>INDIRECTOS CON CARGO UNICO</vt:lpstr>
      <vt:lpstr>COSTOS POR FINANIAMIENTO</vt:lpstr>
      <vt:lpstr>ALGUNOS PARAMETROS DE VARIAS DEPENDENCIAS</vt:lpstr>
      <vt:lpstr>REPORTES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ADQUIRIR O PRODUCIR LOS MATERIALES NECESARIOS</dc:title>
  <dc:creator>Cona</dc:creator>
  <cp:lastModifiedBy>Cona</cp:lastModifiedBy>
  <cp:revision>80</cp:revision>
  <dcterms:created xsi:type="dcterms:W3CDTF">2013-01-30T06:21:27Z</dcterms:created>
  <dcterms:modified xsi:type="dcterms:W3CDTF">2013-03-04T01:29:52Z</dcterms:modified>
</cp:coreProperties>
</file>